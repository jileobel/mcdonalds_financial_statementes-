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Revenue Trend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ln w="31750" cap="flat">
              <a:solidFill>
                <a:srgbClr val="CC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0000"/>
              </a:solidFill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15406</c:v>
                </c:pt>
                <c:pt idx="1">
                  <c:v>19065</c:v>
                </c:pt>
                <c:pt idx="2">
                  <c:v>21586</c:v>
                </c:pt>
                <c:pt idx="3">
                  <c:v>23522</c:v>
                </c:pt>
                <c:pt idx="4">
                  <c:v>24075</c:v>
                </c:pt>
                <c:pt idx="5">
                  <c:v>27567</c:v>
                </c:pt>
                <c:pt idx="6">
                  <c:v>27441</c:v>
                </c:pt>
                <c:pt idx="7">
                  <c:v>24622</c:v>
                </c:pt>
                <c:pt idx="8">
                  <c:v>21025</c:v>
                </c:pt>
                <c:pt idx="9">
                  <c:v>19208</c:v>
                </c:pt>
                <c:pt idx="10">
                  <c:v>23182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BEB-40C5-8441-6F23C6825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Revenue vs Earnings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15406</c:v>
                </c:pt>
                <c:pt idx="1">
                  <c:v>19065</c:v>
                </c:pt>
                <c:pt idx="2">
                  <c:v>21586</c:v>
                </c:pt>
                <c:pt idx="3">
                  <c:v>23522</c:v>
                </c:pt>
                <c:pt idx="4">
                  <c:v>24075</c:v>
                </c:pt>
                <c:pt idx="5">
                  <c:v>27567</c:v>
                </c:pt>
                <c:pt idx="6">
                  <c:v>27441</c:v>
                </c:pt>
                <c:pt idx="7">
                  <c:v>24622</c:v>
                </c:pt>
                <c:pt idx="8">
                  <c:v>21025</c:v>
                </c:pt>
                <c:pt idx="9">
                  <c:v>19208</c:v>
                </c:pt>
                <c:pt idx="10">
                  <c:v>23182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B5-457F-9D89-47E7B8A4F7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Earnings ($M)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893</c:v>
                </c:pt>
                <c:pt idx="1">
                  <c:v>2279</c:v>
                </c:pt>
                <c:pt idx="2">
                  <c:v>3544</c:v>
                </c:pt>
                <c:pt idx="3">
                  <c:v>4313</c:v>
                </c:pt>
                <c:pt idx="4">
                  <c:v>4946</c:v>
                </c:pt>
                <c:pt idx="5">
                  <c:v>5464</c:v>
                </c:pt>
                <c:pt idx="6">
                  <c:v>4758</c:v>
                </c:pt>
                <c:pt idx="7">
                  <c:v>4686</c:v>
                </c:pt>
                <c:pt idx="8">
                  <c:v>5924</c:v>
                </c:pt>
                <c:pt idx="9">
                  <c:v>4731</c:v>
                </c:pt>
                <c:pt idx="10">
                  <c:v>7545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B5-457F-9D89-47E7B8A4F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Operating Margin Trend (%)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2E7D32"/>
            </a:solidFill>
            <a:effectLst/>
          </c:spPr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</c:v>
                </c:pt>
                <c:pt idx="1">
                  <c:v>22</c:v>
                </c:pt>
                <c:pt idx="2">
                  <c:v>26</c:v>
                </c:pt>
                <c:pt idx="3">
                  <c:v>27</c:v>
                </c:pt>
                <c:pt idx="4">
                  <c:v>29</c:v>
                </c:pt>
                <c:pt idx="5">
                  <c:v>31</c:v>
                </c:pt>
                <c:pt idx="6">
                  <c:v>29</c:v>
                </c:pt>
                <c:pt idx="7">
                  <c:v>31</c:v>
                </c:pt>
                <c:pt idx="8">
                  <c:v>41</c:v>
                </c:pt>
                <c:pt idx="9">
                  <c:v>36</c:v>
                </c:pt>
                <c:pt idx="10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94-4B7F-B835-4DA8FB6C0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Assets vs Liabilities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Assets ($M)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23970</c:v>
                </c:pt>
                <c:pt idx="1">
                  <c:v>27837</c:v>
                </c:pt>
                <c:pt idx="2">
                  <c:v>29001</c:v>
                </c:pt>
                <c:pt idx="3">
                  <c:v>26838</c:v>
                </c:pt>
                <c:pt idx="4">
                  <c:v>31975</c:v>
                </c:pt>
                <c:pt idx="5">
                  <c:v>35387</c:v>
                </c:pt>
                <c:pt idx="6">
                  <c:v>34281</c:v>
                </c:pt>
                <c:pt idx="7">
                  <c:v>31024</c:v>
                </c:pt>
                <c:pt idx="8">
                  <c:v>32811</c:v>
                </c:pt>
                <c:pt idx="9">
                  <c:v>52627</c:v>
                </c:pt>
                <c:pt idx="10">
                  <c:v>50432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2-40F2-A789-7C8E689540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Liabilities ($M)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17504</c:v>
                </c:pt>
                <c:pt idx="1">
                  <c:v>22288</c:v>
                </c:pt>
                <c:pt idx="2">
                  <c:v>24558</c:v>
                </c:pt>
                <c:pt idx="3">
                  <c:v>21669</c:v>
                </c:pt>
                <c:pt idx="4">
                  <c:v>28049</c:v>
                </c:pt>
                <c:pt idx="5">
                  <c:v>32320</c:v>
                </c:pt>
                <c:pt idx="6">
                  <c:v>32141</c:v>
                </c:pt>
                <c:pt idx="7">
                  <c:v>30393</c:v>
                </c:pt>
                <c:pt idx="8">
                  <c:v>31498</c:v>
                </c:pt>
                <c:pt idx="9">
                  <c:v>58038</c:v>
                </c:pt>
                <c:pt idx="10">
                  <c:v>56432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D2-40F2-A789-7C8E68954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Total Debt Trend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Debt ($M)</c:v>
                </c:pt>
              </c:strCache>
            </c:strRef>
          </c:tx>
          <c:spPr>
            <a:ln w="31750" cap="flat">
              <a:solidFill>
                <a:srgbClr val="CC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0000"/>
              </a:solidFill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9703</c:v>
                </c:pt>
                <c:pt idx="1">
                  <c:v>13274</c:v>
                </c:pt>
                <c:pt idx="2">
                  <c:v>14847</c:v>
                </c:pt>
                <c:pt idx="3">
                  <c:v>10190</c:v>
                </c:pt>
                <c:pt idx="4">
                  <c:v>11497</c:v>
                </c:pt>
                <c:pt idx="5">
                  <c:v>13633</c:v>
                </c:pt>
                <c:pt idx="6">
                  <c:v>14740</c:v>
                </c:pt>
                <c:pt idx="7">
                  <c:v>14916</c:v>
                </c:pt>
                <c:pt idx="8">
                  <c:v>31075</c:v>
                </c:pt>
                <c:pt idx="9">
                  <c:v>35197</c:v>
                </c:pt>
                <c:pt idx="10">
                  <c:v>48024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8E-4FE1-8757-7247B893FF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Cash on Hand ($M)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on Hand ($M)</c:v>
                </c:pt>
              </c:strCache>
            </c:strRef>
          </c:tx>
          <c:spPr>
            <a:solidFill>
              <a:srgbClr val="2E7D32"/>
            </a:solidFill>
            <a:effectLst/>
          </c:spPr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330</c:v>
                </c:pt>
                <c:pt idx="1">
                  <c:v>1380</c:v>
                </c:pt>
                <c:pt idx="2">
                  <c:v>2136</c:v>
                </c:pt>
                <c:pt idx="3">
                  <c:v>1946</c:v>
                </c:pt>
                <c:pt idx="4">
                  <c:v>2387</c:v>
                </c:pt>
                <c:pt idx="5">
                  <c:v>2336</c:v>
                </c:pt>
                <c:pt idx="6">
                  <c:v>3042</c:v>
                </c:pt>
                <c:pt idx="7">
                  <c:v>1223</c:v>
                </c:pt>
                <c:pt idx="8">
                  <c:v>866</c:v>
                </c:pt>
                <c:pt idx="9">
                  <c:v>3449</c:v>
                </c:pt>
                <c:pt idx="10">
                  <c:v>2583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1C-4E16-9F81-687B7139AC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Earnings Per Share (EPS)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($)</c:v>
                </c:pt>
              </c:strCache>
            </c:strRef>
          </c:tx>
          <c:spPr>
            <a:ln w="31750" cap="flat">
              <a:solidFill>
                <a:srgbClr val="FFC7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72C"/>
              </a:solidFill>
              <a:ln w="9525" cap="flat">
                <a:solidFill>
                  <a:srgbClr val="FFC72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</c:v>
                </c:pt>
                <c:pt idx="1">
                  <c:v>2.06</c:v>
                </c:pt>
                <c:pt idx="2">
                  <c:v>2.83</c:v>
                </c:pt>
                <c:pt idx="3">
                  <c:v>3.76</c:v>
                </c:pt>
                <c:pt idx="4">
                  <c:v>4.1100000000000003</c:v>
                </c:pt>
                <c:pt idx="5">
                  <c:v>5.36</c:v>
                </c:pt>
                <c:pt idx="6">
                  <c:v>5.7</c:v>
                </c:pt>
                <c:pt idx="7">
                  <c:v>5.44</c:v>
                </c:pt>
                <c:pt idx="8">
                  <c:v>7.54</c:v>
                </c:pt>
                <c:pt idx="9">
                  <c:v>6.31</c:v>
                </c:pt>
                <c:pt idx="10">
                  <c:v>10.039999999999999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EA9-4EA8-A763-525D8F445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Dividend Per Share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Dividend/Share ($)</c:v>
                </c:pt>
              </c:strCache>
            </c:strRef>
          </c:tx>
          <c:spPr>
            <a:ln w="31750" cap="flat">
              <a:solidFill>
                <a:srgbClr val="00BF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FA5"/>
              </a:solidFill>
              <a:ln w="9525" cap="flat">
                <a:solidFill>
                  <a:srgbClr val="00BFA5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0.24</c:v>
                </c:pt>
                <c:pt idx="1">
                  <c:v>0.55000000000000004</c:v>
                </c:pt>
                <c:pt idx="2">
                  <c:v>1</c:v>
                </c:pt>
                <c:pt idx="3">
                  <c:v>1.63</c:v>
                </c:pt>
                <c:pt idx="4">
                  <c:v>2.2599999999999998</c:v>
                </c:pt>
                <c:pt idx="5">
                  <c:v>2.87</c:v>
                </c:pt>
                <c:pt idx="6">
                  <c:v>3.28</c:v>
                </c:pt>
                <c:pt idx="7">
                  <c:v>3.61</c:v>
                </c:pt>
                <c:pt idx="8">
                  <c:v>4.1900000000000004</c:v>
                </c:pt>
                <c:pt idx="9">
                  <c:v>5.04</c:v>
                </c:pt>
                <c:pt idx="10">
                  <c:v>5.66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B91-4EE5-87A4-CD969BF65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Dividend Yield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Dividend Yield (%)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2002</c:v>
                </c:pt>
                <c:pt idx="1">
                  <c:v>2004</c:v>
                </c:pt>
                <c:pt idx="2">
                  <c:v>2006</c:v>
                </c:pt>
                <c:pt idx="3">
                  <c:v>2008</c:v>
                </c:pt>
                <c:pt idx="4">
                  <c:v>2010</c:v>
                </c:pt>
                <c:pt idx="5">
                  <c:v>2012</c:v>
                </c:pt>
                <c:pt idx="6">
                  <c:v>2014</c:v>
                </c:pt>
                <c:pt idx="7">
                  <c:v>2016</c:v>
                </c:pt>
                <c:pt idx="8">
                  <c:v>2018</c:v>
                </c:pt>
                <c:pt idx="9">
                  <c:v>2020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</c:v>
                </c:pt>
                <c:pt idx="1">
                  <c:v>0.9</c:v>
                </c:pt>
                <c:pt idx="2">
                  <c:v>1.3</c:v>
                </c:pt>
                <c:pt idx="3">
                  <c:v>2.9</c:v>
                </c:pt>
                <c:pt idx="4">
                  <c:v>3.1</c:v>
                </c:pt>
                <c:pt idx="5">
                  <c:v>3.2</c:v>
                </c:pt>
                <c:pt idx="6">
                  <c:v>3.4</c:v>
                </c:pt>
                <c:pt idx="7">
                  <c:v>2.8</c:v>
                </c:pt>
                <c:pt idx="8">
                  <c:v>2.2999999999999998</c:v>
                </c:pt>
                <c:pt idx="9">
                  <c:v>2.5</c:v>
                </c:pt>
                <c:pt idx="10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3-414E-89E9-81268C104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03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C72C">
              <a:alpha val="15000"/>
            </a:srgbClr>
          </a:solidFill>
          <a:ln w="12700">
            <a:solidFill>
              <a:srgbClr val="FFC72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FFC72C">
              <a:alpha val="25000"/>
            </a:srgbClr>
          </a:solidFill>
          <a:ln w="12700">
            <a:solidFill>
              <a:srgbClr val="FFC72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C0000">
              <a:alpha val="12000"/>
            </a:srgbClr>
          </a:solidFill>
          <a:ln w="12700">
            <a:solidFill>
              <a:srgbClr val="CC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164592" cy="10972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08443" y="365760"/>
            <a:ext cx="164592" cy="10972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McDonald's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analysis of McDonald's financial performance from 2002 to 2022. Explore trends in revenue, profitability, assets, liabilities, debt, and shareholder returns.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27432"/>
          </a:xfrm>
          <a:prstGeom prst="rect">
            <a:avLst/>
          </a:prstGeom>
          <a:solidFill>
            <a:srgbClr val="FFC72C">
              <a:alpha val="60000"/>
            </a:srgbClr>
          </a:solidFill>
          <a:ln w="12700">
            <a:solidFill>
              <a:srgbClr val="FFC72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Profitability  ·  Financial Health  ·  Shareholder Value  ·  2002–2022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37947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Year 2022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1470" y="10515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1470" y="1051560"/>
            <a:ext cx="2606040" cy="164592"/>
          </a:xfrm>
          <a:prstGeom prst="roundRect">
            <a:avLst>
              <a:gd name="adj" fmla="val 44444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8630" y="12527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291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$23.18B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1198" y="219456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before expenses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8980" y="10515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8980" y="1051560"/>
            <a:ext cx="2606040" cy="164592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6140" y="12527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6042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$7.82B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78708" y="219456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after all costs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06490" y="10515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06490" y="1051560"/>
            <a:ext cx="2606040" cy="164592"/>
          </a:xfrm>
          <a:prstGeom prst="roundRect">
            <a:avLst>
              <a:gd name="adj" fmla="val 4444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3650" y="12527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9793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33.76%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16218" y="219456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~34¢ retained per $1 of sales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00225" y="27889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00225" y="2788920"/>
            <a:ext cx="2606040" cy="164592"/>
          </a:xfrm>
          <a:prstGeom prst="roundRect">
            <a:avLst>
              <a:gd name="adj" fmla="val 4444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37385" y="29900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91665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$8.42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909953" y="393192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per outstanding share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7735" y="27889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37735" y="2788920"/>
            <a:ext cx="2606040" cy="164592"/>
          </a:xfrm>
          <a:prstGeom prst="roundRect">
            <a:avLst>
              <a:gd name="adj" fmla="val 44444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4895" y="29900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9175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$193.01B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847463" y="393192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value of shares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PROFITABILITY TRENDS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– 2022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480560" y="1005840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274320" y="3429000"/>
          <a:ext cx="5029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5486400" y="34290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562356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623560" y="38404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grew strongly from 2002 to 2022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Earnings showed resilience despite downturns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Operating margin improved to ~44% by 2022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5720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983480" y="100584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274320" y="3337560"/>
          <a:ext cx="41148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4572000" y="333756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4681728" y="3392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645152" y="3593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$50.43B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4572000" y="41422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4681728" y="41970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4645152" y="43982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$56.43B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858000" y="333756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967728" y="3392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6931152" y="3593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$48.03B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858000" y="41422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967728" y="41970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6931152" y="43982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$2.58B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– 2022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051560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274320" y="3200400"/>
          <a:ext cx="50292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5486400" y="3200400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252545"/>
          </a:solidFill>
          <a:ln w="12700">
            <a:solidFill>
              <a:srgbClr val="3A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5596128" y="3236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(2022)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5596128" y="3419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$10.04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223760" y="32735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profit/share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486400" y="3794760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252545"/>
          </a:solidFill>
          <a:ln w="12700">
            <a:solidFill>
              <a:srgbClr val="3A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596128" y="38313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DIVIDEND/SHARE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5596128" y="4014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$5.66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223760" y="38679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payout growth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486400" y="4389120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252545"/>
          </a:solidFill>
          <a:ln w="12700">
            <a:solidFill>
              <a:srgbClr val="3A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596128" y="4425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5596128" y="46085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2.15%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223760" y="44622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return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237</Words>
  <Application>Microsoft Office PowerPoint</Application>
  <PresentationFormat>On-screen Show (16:9)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Financial Performance Dashboard</dc:title>
  <dc:subject>PptxGenJS Presentation</dc:subject>
  <dc:creator>PptxGenJS</dc:creator>
  <cp:lastModifiedBy>Jill Kwakye</cp:lastModifiedBy>
  <cp:revision>2</cp:revision>
  <dcterms:created xsi:type="dcterms:W3CDTF">2026-06-19T16:45:23Z</dcterms:created>
  <dcterms:modified xsi:type="dcterms:W3CDTF">2026-06-19T16:51:26Z</dcterms:modified>
</cp:coreProperties>
</file>